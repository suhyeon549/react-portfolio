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380" y="-3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123B00-BC5D-F7FC-B999-3674615DB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DA2D81F-C4E6-818A-5DA0-803FDD1E3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8383AE-ED08-06DC-D985-8781B224E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3A3BB-7B2F-47CA-B02F-E9E9E5ABA37F}" type="datetimeFigureOut">
              <a:rPr lang="ko-KR" altLang="en-US" smtClean="0"/>
              <a:t>2024-11-06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29DC75-B252-CD8A-2E6F-33654053E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A12A48-B842-88B1-EADA-8491A2CCA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6901-34CC-4E58-AC20-AA5BFBD32E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27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A1BFE-6F03-7260-625E-C71F8B9D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6154B6-D558-9CF7-A33F-24980395A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8A48AF-F654-BA85-B19D-EFA436C1A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3A3BB-7B2F-47CA-B02F-E9E9E5ABA37F}" type="datetimeFigureOut">
              <a:rPr lang="ko-KR" altLang="en-US" smtClean="0"/>
              <a:t>2024-11-06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FB92E-C568-5720-48EB-A0E1BDED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1366C1-FAF7-86AE-E7BD-2261AD575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6901-34CC-4E58-AC20-AA5BFBD32E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629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57A4DB-8CA5-6943-AF65-64D39D7F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D42471-FA39-9124-7929-4FFE9EC58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3626F2-BAB7-ECB3-F6F6-7EC7E0A4D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3A3BB-7B2F-47CA-B02F-E9E9E5ABA37F}" type="datetimeFigureOut">
              <a:rPr lang="ko-KR" altLang="en-US" smtClean="0"/>
              <a:t>2024-11-06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68CBFF-E955-AF35-E7CA-9B75231C1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CF43F8-38B4-D66B-096B-445348369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6901-34CC-4E58-AC20-AA5BFBD32E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267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60A41F-4161-7FFF-43DA-2DA57D46F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9C736B-F0E0-05DB-381E-1FF13A5F39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FF92CF-8842-ED6B-F499-953C08C44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6BB6F3-50E0-9E5E-BBA2-4B6908CD8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3A3BB-7B2F-47CA-B02F-E9E9E5ABA37F}" type="datetimeFigureOut">
              <a:rPr lang="ko-KR" altLang="en-US" smtClean="0"/>
              <a:t>2024-11-06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7310AF-6C48-4ACF-16F7-EC72C87E9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018B88-4C83-A63B-B4ED-7612C7CCC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6901-34CC-4E58-AC20-AA5BFBD32E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6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18A5E8-2180-57AB-4F8A-229FB2479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B10FC0-84BB-70C1-49BE-F1F9C1FBE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E59188-0665-69CA-BABC-C2258BED0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F04595A-0E4E-6151-28DE-E877FDDC51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9716D48-FC4D-D7FF-2D69-D875E7DFA6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CF1324-B4A6-0B53-B8F1-13E31F1CA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3A3BB-7B2F-47CA-B02F-E9E9E5ABA37F}" type="datetimeFigureOut">
              <a:rPr lang="ko-KR" altLang="en-US" smtClean="0"/>
              <a:t>2024-11-06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18C85F2-8EC9-27D1-8358-D1FE6049E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123AA5E-EA72-7A3F-9ABC-CA443CB05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6901-34CC-4E58-AC20-AA5BFBD32E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987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0A3740-CB44-080A-CF83-04EC2B5C4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62F18A-BF7A-7681-5C6E-EE215F419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3A3BB-7B2F-47CA-B02F-E9E9E5ABA37F}" type="datetimeFigureOut">
              <a:rPr lang="ko-KR" altLang="en-US" smtClean="0"/>
              <a:t>2024-11-06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E1896E3-29CD-F163-901B-C016033CC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AD2117-3AE2-75F3-A29F-FE83760E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6901-34CC-4E58-AC20-AA5BFBD32E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164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AE6AC80-B4A7-7308-63DE-A07AD64F7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3A3BB-7B2F-47CA-B02F-E9E9E5ABA37F}" type="datetimeFigureOut">
              <a:rPr lang="ko-KR" altLang="en-US" smtClean="0"/>
              <a:t>2024-11-06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28E8977-27E6-180E-035D-6720F0807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75FA6E-78EE-10A5-2BE5-8A7833A40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6901-34CC-4E58-AC20-AA5BFBD32E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225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3B3544-F817-6CA0-7AD8-D8F1E153D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412713-4C95-FF91-26DA-08A7166BA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862660-ADA5-F4DD-69F5-95C7DD894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FF685E-97C9-EB51-9033-6CF4AC2B4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3A3BB-7B2F-47CA-B02F-E9E9E5ABA37F}" type="datetimeFigureOut">
              <a:rPr lang="ko-KR" altLang="en-US" smtClean="0"/>
              <a:t>2024-11-06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961B22-2D14-10B4-1B75-EAF83AD62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943AFC-BB81-CC20-9D2E-6C81F11FB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6901-34CC-4E58-AC20-AA5BFBD32E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603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2524A-D3DC-18EC-3011-B29DF7BB0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7E1ECC6-99AB-AEF3-BA47-96959A90A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BD50D7-7479-1BCC-424B-7392ACDD04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C422A6-212F-D7A6-E16F-98AEB5B20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3A3BB-7B2F-47CA-B02F-E9E9E5ABA37F}" type="datetimeFigureOut">
              <a:rPr lang="ko-KR" altLang="en-US" smtClean="0"/>
              <a:t>2024-11-06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F67C04-5D37-28C3-2D3B-A204FF16A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5485D4-07C5-2A81-7FB7-A4EB3F9CB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6901-34CC-4E58-AC20-AA5BFBD32E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547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8DB228-5AED-6539-76FF-9C0042ABC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AB8DCF-A8BB-191C-6644-1A0DE2AC5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F0A105-E5FF-2605-C2BB-0F0FD83F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3A3BB-7B2F-47CA-B02F-E9E9E5ABA37F}" type="datetimeFigureOut">
              <a:rPr lang="ko-KR" altLang="en-US" smtClean="0"/>
              <a:t>2024-11-06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59A434-CFAD-8B69-CC82-C3D601997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E55F15-03A0-43D0-2931-DFDE566FC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6901-34CC-4E58-AC20-AA5BFBD32E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9323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B567C3C-56F0-B29E-AB57-2A8147B85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AE2543-56D5-6F09-C7BF-241D0070F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D68F25-C4E8-0961-C10F-BE72FC2B3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3A3BB-7B2F-47CA-B02F-E9E9E5ABA37F}" type="datetimeFigureOut">
              <a:rPr lang="ko-KR" altLang="en-US" smtClean="0"/>
              <a:t>2024-11-06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AF697B-13A2-8142-EC26-89C13627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B1BB9A-7C1E-E60A-819B-77DB18167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96901-34CC-4E58-AC20-AA5BFBD32E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07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E568F52-D15E-86CE-8FA0-926C25F40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C05FD8-CF3E-EB17-1514-57BBA6263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6463A0-0763-BCF8-1211-A8A10942F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13A3BB-7B2F-47CA-B02F-E9E9E5ABA37F}" type="datetimeFigureOut">
              <a:rPr lang="ko-KR" altLang="en-US" smtClean="0"/>
              <a:t>2024-11-06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9A72F9-F1FD-6D79-7A5A-84C63037B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C71C03-E986-AE3A-2317-E68C0AFC1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896901-34CC-4E58-AC20-AA5BFBD32E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865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8CBA61F-E039-CE08-481D-A756046072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49" t="26558" r="71170" b="51358"/>
          <a:stretch/>
        </p:blipFill>
        <p:spPr>
          <a:xfrm>
            <a:off x="879111" y="696254"/>
            <a:ext cx="2192868" cy="151456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46F761E-F151-FF5C-B4BC-17A2F10A07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87" t="26852" r="43016" b="51419"/>
          <a:stretch/>
        </p:blipFill>
        <p:spPr>
          <a:xfrm>
            <a:off x="3529177" y="703749"/>
            <a:ext cx="2175935" cy="149013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65FB86D-226A-39CE-6BE6-BD89BDC1AB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408" t="19260" r="41481" b="61604"/>
          <a:stretch/>
        </p:blipFill>
        <p:spPr>
          <a:xfrm>
            <a:off x="6221577" y="695283"/>
            <a:ext cx="2154577" cy="1464733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EA32A89-246F-D9CD-9D43-360F18CDC4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71" t="42593" r="66296" b="38518"/>
          <a:stretch/>
        </p:blipFill>
        <p:spPr>
          <a:xfrm>
            <a:off x="839080" y="3746838"/>
            <a:ext cx="2247401" cy="152823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3DCAAA9-7145-A34F-3D9C-47E73C7B8F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593" t="42222" r="41389" b="38642"/>
          <a:stretch/>
        </p:blipFill>
        <p:spPr>
          <a:xfrm>
            <a:off x="3506080" y="3738372"/>
            <a:ext cx="2184401" cy="15367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B83AB60-74F4-1F29-AF3A-E46974104B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500" t="42593" r="17222" b="38395"/>
          <a:stretch/>
        </p:blipFill>
        <p:spPr>
          <a:xfrm>
            <a:off x="6198482" y="3731834"/>
            <a:ext cx="2175932" cy="153010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F8058C89-CAF7-25B9-824D-DD66F22C7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5" y="681510"/>
            <a:ext cx="2209189" cy="148989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3F6F425-0F36-CF81-271C-07803613A5E1}"/>
              </a:ext>
            </a:extLst>
          </p:cNvPr>
          <p:cNvSpPr txBox="1"/>
          <p:nvPr/>
        </p:nvSpPr>
        <p:spPr>
          <a:xfrm>
            <a:off x="1711756" y="314554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#1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D7FC1F-9864-9196-FEE7-C94936E463A5}"/>
              </a:ext>
            </a:extLst>
          </p:cNvPr>
          <p:cNvSpPr txBox="1"/>
          <p:nvPr/>
        </p:nvSpPr>
        <p:spPr>
          <a:xfrm>
            <a:off x="4380584" y="32065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#2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D50BB5-2B96-2DAA-3DF8-4093ED7F58B3}"/>
              </a:ext>
            </a:extLst>
          </p:cNvPr>
          <p:cNvSpPr txBox="1"/>
          <p:nvPr/>
        </p:nvSpPr>
        <p:spPr>
          <a:xfrm>
            <a:off x="7005521" y="31943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#3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CE91CD-142C-DE16-B7CF-03F89FE0E53F}"/>
              </a:ext>
            </a:extLst>
          </p:cNvPr>
          <p:cNvSpPr txBox="1"/>
          <p:nvPr/>
        </p:nvSpPr>
        <p:spPr>
          <a:xfrm>
            <a:off x="9791393" y="325527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#4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B7DABB-3E19-5E2C-36E0-727309498E64}"/>
              </a:ext>
            </a:extLst>
          </p:cNvPr>
          <p:cNvSpPr txBox="1"/>
          <p:nvPr/>
        </p:nvSpPr>
        <p:spPr>
          <a:xfrm>
            <a:off x="1681276" y="3327197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#5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401F01-C2E6-86C7-81D4-DC04CF9E13AD}"/>
              </a:ext>
            </a:extLst>
          </p:cNvPr>
          <p:cNvSpPr txBox="1"/>
          <p:nvPr/>
        </p:nvSpPr>
        <p:spPr>
          <a:xfrm>
            <a:off x="4350104" y="3333293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#6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E7350E0-C28E-0C13-EEC0-62B488BBCCA7}"/>
              </a:ext>
            </a:extLst>
          </p:cNvPr>
          <p:cNvSpPr txBox="1"/>
          <p:nvPr/>
        </p:nvSpPr>
        <p:spPr>
          <a:xfrm>
            <a:off x="6975041" y="3332074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#7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3538E5-1435-16FB-2FBB-E9A7681A55B1}"/>
              </a:ext>
            </a:extLst>
          </p:cNvPr>
          <p:cNvSpPr txBox="1"/>
          <p:nvPr/>
        </p:nvSpPr>
        <p:spPr>
          <a:xfrm>
            <a:off x="9760913" y="333817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#8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6A62D5-0284-6271-4D06-76595ACE51CA}"/>
              </a:ext>
            </a:extLst>
          </p:cNvPr>
          <p:cNvSpPr txBox="1"/>
          <p:nvPr/>
        </p:nvSpPr>
        <p:spPr>
          <a:xfrm>
            <a:off x="804671" y="2318920"/>
            <a:ext cx="232623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C00000"/>
                </a:solidFill>
              </a:rPr>
              <a:t>검정색 어두운 배경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웅크리고 있는 주인공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약간 위에서 아래로 향하게 촬영</a:t>
            </a:r>
            <a:r>
              <a:rPr lang="en-US" altLang="ko-KR" sz="1100" dirty="0"/>
              <a:t>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09917B-3EB2-FFD6-2997-625028FFBF86}"/>
              </a:ext>
            </a:extLst>
          </p:cNvPr>
          <p:cNvSpPr txBox="1"/>
          <p:nvPr/>
        </p:nvSpPr>
        <p:spPr>
          <a:xfrm>
            <a:off x="3436924" y="2310385"/>
            <a:ext cx="23262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옆모습 촬영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주인공이 목을 감싸며 괴로워 하는 듯 하다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잠시 뒤 전화 </a:t>
            </a:r>
            <a:r>
              <a:rPr lang="ko-KR" altLang="en-US" sz="1100" dirty="0" err="1"/>
              <a:t>벨이</a:t>
            </a:r>
            <a:r>
              <a:rPr lang="ko-KR" altLang="en-US" sz="1100" dirty="0"/>
              <a:t> 울린다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C43233-E236-B5FA-D7E5-5A0C34CA1CB5}"/>
              </a:ext>
            </a:extLst>
          </p:cNvPr>
          <p:cNvSpPr txBox="1"/>
          <p:nvPr/>
        </p:nvSpPr>
        <p:spPr>
          <a:xfrm>
            <a:off x="6096000" y="2274470"/>
            <a:ext cx="23847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전남친의</a:t>
            </a:r>
            <a:r>
              <a:rPr lang="ko-KR" altLang="en-US" sz="1000" dirty="0"/>
              <a:t> 전화</a:t>
            </a:r>
            <a:r>
              <a:rPr lang="en-US" altLang="ko-KR" sz="1000" dirty="0"/>
              <a:t>. </a:t>
            </a:r>
            <a:r>
              <a:rPr lang="ko-KR" altLang="en-US" sz="1000" dirty="0"/>
              <a:t>상체를 일으키며 받는다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통화하던 중 눈 앞이 동굴로 바뀐다</a:t>
            </a:r>
            <a:r>
              <a:rPr lang="en-US" altLang="ko-KR" sz="1000" dirty="0"/>
              <a:t>.</a:t>
            </a:r>
          </a:p>
          <a:p>
            <a:r>
              <a:rPr lang="en-US" altLang="ko-KR" sz="1000" dirty="0"/>
              <a:t>(-&gt; </a:t>
            </a:r>
            <a:r>
              <a:rPr lang="ko-KR" altLang="en-US" sz="1000" dirty="0"/>
              <a:t>당황하여 말을 점점 머뭇거리다 주인공 시점</a:t>
            </a:r>
            <a:r>
              <a:rPr lang="en-US" altLang="ko-KR" sz="1000" dirty="0"/>
              <a:t> </a:t>
            </a:r>
            <a:r>
              <a:rPr lang="ko-KR" altLang="en-US" sz="1000" dirty="0"/>
              <a:t>시선으로 화면을 전환하여 표현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8636BE-F7C8-DEC8-6D4E-A2252D46E0BF}"/>
              </a:ext>
            </a:extLst>
          </p:cNvPr>
          <p:cNvSpPr txBox="1"/>
          <p:nvPr/>
        </p:nvSpPr>
        <p:spPr>
          <a:xfrm>
            <a:off x="8850172" y="2303070"/>
            <a:ext cx="23262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주인공 시선의 동굴 안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>
                <a:solidFill>
                  <a:srgbClr val="C00000"/>
                </a:solidFill>
              </a:rPr>
              <a:t>동굴 </a:t>
            </a:r>
            <a:r>
              <a:rPr lang="ko-KR" altLang="en-US" sz="1100" dirty="0" err="1">
                <a:solidFill>
                  <a:srgbClr val="C00000"/>
                </a:solidFill>
              </a:rPr>
              <a:t>언리얼</a:t>
            </a:r>
            <a:r>
              <a:rPr lang="ko-KR" altLang="en-US" sz="1100" dirty="0">
                <a:solidFill>
                  <a:srgbClr val="C00000"/>
                </a:solidFill>
              </a:rPr>
              <a:t> 레벨디자인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4AA929-9ED7-2A40-DB26-3F381F115CDC}"/>
              </a:ext>
            </a:extLst>
          </p:cNvPr>
          <p:cNvSpPr txBox="1"/>
          <p:nvPr/>
        </p:nvSpPr>
        <p:spPr>
          <a:xfrm>
            <a:off x="766875" y="5390084"/>
            <a:ext cx="232623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일어나 당황하며 앞으로 걸어가는</a:t>
            </a:r>
            <a:endParaRPr lang="en-US" altLang="ko-KR" sz="1100" dirty="0"/>
          </a:p>
          <a:p>
            <a:r>
              <a:rPr lang="ko-KR" altLang="en-US" sz="1100" dirty="0"/>
              <a:t>주인공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이때 의문의 사람이 주인공의 팔뚝을 손으로 툭툭 친다</a:t>
            </a:r>
            <a:r>
              <a:rPr lang="en-US" altLang="ko-KR" sz="1100" dirty="0"/>
              <a:t>. ( </a:t>
            </a:r>
            <a:r>
              <a:rPr lang="ko-KR" altLang="en-US" sz="1100" dirty="0"/>
              <a:t>주인공의 팔뚝과 정체불명 사람의 손 부분을 클로즈업 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6773BF-39CF-C1CE-7AA9-8029A0261AEB}"/>
              </a:ext>
            </a:extLst>
          </p:cNvPr>
          <p:cNvSpPr txBox="1"/>
          <p:nvPr/>
        </p:nvSpPr>
        <p:spPr>
          <a:xfrm>
            <a:off x="3421074" y="5366919"/>
            <a:ext cx="23262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의문의 사람이 총을 건넨다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492F7A-15E6-9B43-A2B6-8EB51424F3A3}"/>
              </a:ext>
            </a:extLst>
          </p:cNvPr>
          <p:cNvSpPr txBox="1"/>
          <p:nvPr/>
        </p:nvSpPr>
        <p:spPr>
          <a:xfrm>
            <a:off x="6121601" y="5390084"/>
            <a:ext cx="2384757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총을 </a:t>
            </a:r>
            <a:r>
              <a:rPr lang="ko-KR" altLang="en-US" sz="1100" dirty="0" err="1"/>
              <a:t>건네받아</a:t>
            </a:r>
            <a:r>
              <a:rPr lang="ko-KR" altLang="en-US" sz="1100" dirty="0"/>
              <a:t> 당황하며 </a:t>
            </a:r>
            <a:r>
              <a:rPr lang="ko-KR" altLang="en-US" sz="1100" dirty="0" err="1"/>
              <a:t>만지작</a:t>
            </a:r>
            <a:r>
              <a:rPr lang="ko-KR" altLang="en-US" sz="1100" dirty="0"/>
              <a:t> 거</a:t>
            </a:r>
            <a:endParaRPr lang="en-US" altLang="ko-KR" sz="1100" dirty="0"/>
          </a:p>
          <a:p>
            <a:r>
              <a:rPr lang="ko-KR" altLang="en-US" sz="1100" dirty="0"/>
              <a:t>리는 주인공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이때 주인공 뒤에서 저벅저벅 소리</a:t>
            </a:r>
            <a:endParaRPr lang="en-US" altLang="ko-KR" sz="1100" dirty="0"/>
          </a:p>
          <a:p>
            <a:r>
              <a:rPr lang="ko-KR" altLang="en-US" sz="1100" dirty="0"/>
              <a:t>가 들려온다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만지작</a:t>
            </a:r>
            <a:r>
              <a:rPr lang="ko-KR" alt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11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거리던</a:t>
            </a:r>
            <a:r>
              <a:rPr lang="ko-KR" alt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총에서 눈을 떼 뒤를 돌아본다</a:t>
            </a:r>
            <a:r>
              <a:rPr lang="en-US" altLang="ko-KR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altLang="ko-KR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주인공의 어깨 위 부분 촬영</a:t>
            </a:r>
            <a:r>
              <a:rPr lang="en-US" altLang="ko-KR" sz="11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1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E41A43-EA21-0DA4-5237-A44DAEAADDC0}"/>
              </a:ext>
            </a:extLst>
          </p:cNvPr>
          <p:cNvSpPr txBox="1"/>
          <p:nvPr/>
        </p:nvSpPr>
        <p:spPr>
          <a:xfrm>
            <a:off x="8819691" y="5374234"/>
            <a:ext cx="23262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무릎 위까지 나오게 </a:t>
            </a:r>
            <a:r>
              <a:rPr lang="ko-KR" altLang="en-US" sz="1100" dirty="0" err="1"/>
              <a:t>줌아웃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남친이 서있다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F85E5F7F-2477-3D65-92DD-55C79FFDCD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90" t="65137" r="66187" b="15300"/>
          <a:stretch/>
        </p:blipFill>
        <p:spPr>
          <a:xfrm>
            <a:off x="8920528" y="3714293"/>
            <a:ext cx="2169316" cy="152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720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8D2B9-9C2B-BE04-14A3-27781506E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77EB35DC-BBDA-0349-D5F8-6E053D73D0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02" t="53210" r="43017" b="25062"/>
          <a:stretch/>
        </p:blipFill>
        <p:spPr>
          <a:xfrm>
            <a:off x="8984758" y="779070"/>
            <a:ext cx="2209802" cy="153040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8B57DF3-B590-7014-A507-CA3E7BBE51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102" t="39876" r="40564" b="42099"/>
          <a:stretch/>
        </p:blipFill>
        <p:spPr>
          <a:xfrm>
            <a:off x="918058" y="3747109"/>
            <a:ext cx="2175932" cy="152002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73D960E-2227-D624-C6FE-03499CDFF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048" y="3757614"/>
            <a:ext cx="2176463" cy="14871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24BD881-32C6-2AE7-C560-2D7CC34F1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3611" y="3776703"/>
            <a:ext cx="2184400" cy="14966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61DBDC-FF9B-DAC6-8E15-BC5A355BA9E6}"/>
              </a:ext>
            </a:extLst>
          </p:cNvPr>
          <p:cNvSpPr txBox="1"/>
          <p:nvPr/>
        </p:nvSpPr>
        <p:spPr>
          <a:xfrm>
            <a:off x="1681277" y="3297935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#13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8C6A6F-D5D1-4A74-B2F8-74E1AD3A6CCE}"/>
              </a:ext>
            </a:extLst>
          </p:cNvPr>
          <p:cNvSpPr txBox="1"/>
          <p:nvPr/>
        </p:nvSpPr>
        <p:spPr>
          <a:xfrm>
            <a:off x="4350105" y="3304031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#14</a:t>
            </a:r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CE90A335-6ECD-04D6-6B40-ECCBEB9D25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2500" t="65309" r="17130" b="15926"/>
          <a:stretch/>
        </p:blipFill>
        <p:spPr>
          <a:xfrm>
            <a:off x="6278948" y="775342"/>
            <a:ext cx="2150534" cy="153246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0F72116F-C309-4D96-E720-4910780BA52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507" t="65137" r="41455" b="15300"/>
          <a:stretch/>
        </p:blipFill>
        <p:spPr>
          <a:xfrm>
            <a:off x="3577133" y="778988"/>
            <a:ext cx="2216506" cy="150496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82FEC51-C739-5FE9-2B44-E64FFD7A88AC}"/>
              </a:ext>
            </a:extLst>
          </p:cNvPr>
          <p:cNvSpPr txBox="1"/>
          <p:nvPr/>
        </p:nvSpPr>
        <p:spPr>
          <a:xfrm>
            <a:off x="1711756" y="314554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#9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6ED95D-485D-6C1F-3BBC-8F0AF0ED5DCA}"/>
              </a:ext>
            </a:extLst>
          </p:cNvPr>
          <p:cNvSpPr txBox="1"/>
          <p:nvPr/>
        </p:nvSpPr>
        <p:spPr>
          <a:xfrm>
            <a:off x="4380584" y="320650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#10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0357CB-E4AB-DA3B-CA9E-4A6B17B1FC41}"/>
              </a:ext>
            </a:extLst>
          </p:cNvPr>
          <p:cNvSpPr txBox="1"/>
          <p:nvPr/>
        </p:nvSpPr>
        <p:spPr>
          <a:xfrm>
            <a:off x="7005521" y="319431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#11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D8DB90-509D-DDDB-11E8-167604D9B909}"/>
              </a:ext>
            </a:extLst>
          </p:cNvPr>
          <p:cNvSpPr txBox="1"/>
          <p:nvPr/>
        </p:nvSpPr>
        <p:spPr>
          <a:xfrm>
            <a:off x="9791393" y="325527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#12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28E91D-A6E3-98CF-72DB-F0518B3199E2}"/>
              </a:ext>
            </a:extLst>
          </p:cNvPr>
          <p:cNvSpPr txBox="1"/>
          <p:nvPr/>
        </p:nvSpPr>
        <p:spPr>
          <a:xfrm>
            <a:off x="848562" y="5369358"/>
            <a:ext cx="245059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총 쏜 이후 몽환적인 배경에서 해방감을 느끼는 주인공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아래에서 위로 앵글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바스트씬</a:t>
            </a:r>
            <a:r>
              <a:rPr lang="ko-KR" altLang="en-US" sz="1100" dirty="0"/>
              <a:t> 처리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86E9BD-EDC7-E428-2E19-D4C28231E189}"/>
              </a:ext>
            </a:extLst>
          </p:cNvPr>
          <p:cNvSpPr txBox="1"/>
          <p:nvPr/>
        </p:nvSpPr>
        <p:spPr>
          <a:xfrm>
            <a:off x="3480815" y="5360823"/>
            <a:ext cx="232623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몽환적인 </a:t>
            </a:r>
            <a:r>
              <a:rPr lang="ko-KR" altLang="en-US" sz="1100" dirty="0" err="1"/>
              <a:t>언리얼</a:t>
            </a:r>
            <a:r>
              <a:rPr lang="ko-KR" altLang="en-US" sz="1100" dirty="0"/>
              <a:t> 배경에 돌고래</a:t>
            </a:r>
            <a:r>
              <a:rPr lang="en-US" altLang="ko-KR" sz="1100" dirty="0"/>
              <a:t> 3D </a:t>
            </a:r>
            <a:r>
              <a:rPr lang="ko-KR" altLang="en-US" sz="1100" dirty="0" err="1"/>
              <a:t>에셋이</a:t>
            </a:r>
            <a:r>
              <a:rPr lang="ko-KR" altLang="en-US" sz="1100" dirty="0"/>
              <a:t> 둥둥 떠다니는 장면 촬영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&lt;</a:t>
            </a:r>
            <a:r>
              <a:rPr lang="ko-KR" altLang="en-US" sz="1100" dirty="0"/>
              <a:t>이상한 변호사 </a:t>
            </a:r>
            <a:r>
              <a:rPr lang="ko-KR" altLang="en-US" sz="1100" dirty="0" err="1"/>
              <a:t>우영우</a:t>
            </a:r>
            <a:r>
              <a:rPr lang="en-US" altLang="ko-KR" sz="1100" dirty="0"/>
              <a:t>&gt; </a:t>
            </a:r>
            <a:r>
              <a:rPr lang="ko-KR" altLang="en-US" sz="1100" dirty="0" err="1"/>
              <a:t>씬을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래퍼런스로</a:t>
            </a:r>
            <a:r>
              <a:rPr lang="ko-KR" altLang="en-US" sz="1100" dirty="0"/>
              <a:t> 활용</a:t>
            </a:r>
            <a:r>
              <a:rPr lang="en-US" altLang="ko-KR" sz="1100" dirty="0"/>
              <a:t>. 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CCDF3B-93B7-B2EF-73F9-2D2CDF6E4FEC}"/>
              </a:ext>
            </a:extLst>
          </p:cNvPr>
          <p:cNvSpPr txBox="1"/>
          <p:nvPr/>
        </p:nvSpPr>
        <p:spPr>
          <a:xfrm>
            <a:off x="6203288" y="5369358"/>
            <a:ext cx="238475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몽환적인 배경을 바라보는 주인공</a:t>
            </a:r>
            <a:endParaRPr lang="en-US" altLang="ko-KR" sz="1100" dirty="0"/>
          </a:p>
          <a:p>
            <a:r>
              <a:rPr lang="ko-KR" altLang="en-US" sz="1100" dirty="0"/>
              <a:t>의 뒷모습으로 </a:t>
            </a:r>
            <a:r>
              <a:rPr lang="ko-KR" altLang="en-US" sz="1100" dirty="0" err="1"/>
              <a:t>줌아웃하며</a:t>
            </a:r>
            <a:r>
              <a:rPr lang="ko-KR" altLang="en-US" sz="1100" dirty="0"/>
              <a:t> 영상이</a:t>
            </a:r>
            <a:endParaRPr lang="en-US" altLang="ko-KR" sz="1100" dirty="0"/>
          </a:p>
          <a:p>
            <a:r>
              <a:rPr lang="ko-KR" altLang="en-US" sz="1100" dirty="0"/>
              <a:t>끝난다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C1BE77FC-5AC2-BEF5-DBF6-0D8F2A8AA4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810" y="768021"/>
            <a:ext cx="2226412" cy="149729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CE8A6B5-368B-FB79-9E39-0FDD475E3450}"/>
              </a:ext>
            </a:extLst>
          </p:cNvPr>
          <p:cNvSpPr txBox="1"/>
          <p:nvPr/>
        </p:nvSpPr>
        <p:spPr>
          <a:xfrm>
            <a:off x="848562" y="2399387"/>
            <a:ext cx="232623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무표정으로 서있는 남친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하이 앵글로 어깨까지 나오게 촬영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378B5D-2E99-0C10-B7A6-D3C1A9C9B206}"/>
              </a:ext>
            </a:extLst>
          </p:cNvPr>
          <p:cNvSpPr txBox="1"/>
          <p:nvPr/>
        </p:nvSpPr>
        <p:spPr>
          <a:xfrm>
            <a:off x="3480815" y="2390852"/>
            <a:ext cx="232623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의문의 남자에게 받은 총을 들어</a:t>
            </a:r>
            <a:endParaRPr lang="en-US" altLang="ko-KR" sz="1100" dirty="0"/>
          </a:p>
          <a:p>
            <a:r>
              <a:rPr lang="ko-KR" altLang="en-US" sz="1100" dirty="0"/>
              <a:t>올리는 주인공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D1FD10-E6F2-F745-5741-1705BE4C7581}"/>
              </a:ext>
            </a:extLst>
          </p:cNvPr>
          <p:cNvSpPr txBox="1"/>
          <p:nvPr/>
        </p:nvSpPr>
        <p:spPr>
          <a:xfrm>
            <a:off x="6203288" y="2399387"/>
            <a:ext cx="23847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남친을 향해 총을 쏘는 주인공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총 쏘는 손 클로즈업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0E026C-401B-7844-2733-446EB3DBF916}"/>
              </a:ext>
            </a:extLst>
          </p:cNvPr>
          <p:cNvSpPr txBox="1"/>
          <p:nvPr/>
        </p:nvSpPr>
        <p:spPr>
          <a:xfrm>
            <a:off x="8894063" y="2383537"/>
            <a:ext cx="23262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주인공의 총 쏘는 모습 그대로 </a:t>
            </a:r>
            <a:r>
              <a:rPr lang="ko-KR" altLang="en-US" sz="1100" dirty="0" err="1"/>
              <a:t>줌아웃</a:t>
            </a:r>
            <a:r>
              <a:rPr lang="en-US" altLang="ko-KR" sz="1100" dirty="0"/>
              <a:t>. </a:t>
            </a:r>
          </a:p>
          <a:p>
            <a:r>
              <a:rPr lang="ko-KR" altLang="en-US" sz="1100" dirty="0"/>
              <a:t>이때 배경은 </a:t>
            </a:r>
            <a:r>
              <a:rPr lang="ko-KR" altLang="en-US" sz="1100" dirty="0">
                <a:solidFill>
                  <a:srgbClr val="C00000"/>
                </a:solidFill>
              </a:rPr>
              <a:t>몽환적인 배경의 </a:t>
            </a:r>
            <a:r>
              <a:rPr lang="ko-KR" altLang="en-US" sz="1100" dirty="0" err="1">
                <a:solidFill>
                  <a:srgbClr val="C00000"/>
                </a:solidFill>
              </a:rPr>
              <a:t>언리얼</a:t>
            </a:r>
            <a:r>
              <a:rPr lang="ko-KR" altLang="en-US" sz="1100" dirty="0">
                <a:solidFill>
                  <a:srgbClr val="C00000"/>
                </a:solidFill>
              </a:rPr>
              <a:t> 공간</a:t>
            </a:r>
            <a:r>
              <a:rPr lang="ko-KR" altLang="en-US" sz="1100" dirty="0"/>
              <a:t>으로 바뀌어 있다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7FB063-A724-EBD3-40F5-4027DBF52FDD}"/>
              </a:ext>
            </a:extLst>
          </p:cNvPr>
          <p:cNvSpPr txBox="1"/>
          <p:nvPr/>
        </p:nvSpPr>
        <p:spPr>
          <a:xfrm>
            <a:off x="7055510" y="3310127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#15</a:t>
            </a:r>
            <a:endParaRPr lang="ko-KR" altLang="en-US" dirty="0"/>
          </a:p>
        </p:txBody>
      </p:sp>
      <p:pic>
        <p:nvPicPr>
          <p:cNvPr id="43" name="그림 42" descr="의류, 사람, 긴 머리, 여성이(가) 표시된 사진&#10;&#10;자동 생성된 설명">
            <a:extLst>
              <a:ext uri="{FF2B5EF4-FFF2-40B4-BE49-F238E27FC236}">
                <a16:creationId xmlns:a16="http://schemas.microsoft.com/office/drawing/2014/main" id="{41D02BC0-5452-61B9-BB39-3B1597F7F4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9448" y="4489165"/>
            <a:ext cx="376686" cy="77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336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F476E9-D8EC-C0DA-61D9-64554F5B85D9}"/>
              </a:ext>
            </a:extLst>
          </p:cNvPr>
          <p:cNvSpPr txBox="1"/>
          <p:nvPr/>
        </p:nvSpPr>
        <p:spPr>
          <a:xfrm>
            <a:off x="438150" y="485676"/>
            <a:ext cx="84963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피사체와 인물 사이에 소품을 넣어서 현실감 높이기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동굴</a:t>
            </a:r>
            <a:r>
              <a:rPr lang="en-US" altLang="ko-KR" dirty="0"/>
              <a:t> -&gt; </a:t>
            </a:r>
            <a:r>
              <a:rPr lang="ko-KR" altLang="en-US" dirty="0"/>
              <a:t>인조 바위</a:t>
            </a:r>
            <a:r>
              <a:rPr lang="en-US" altLang="ko-KR" dirty="0"/>
              <a:t>(</a:t>
            </a:r>
            <a:r>
              <a:rPr lang="ko-KR" altLang="en-US" dirty="0"/>
              <a:t>비용이 천차만별</a:t>
            </a:r>
            <a:r>
              <a:rPr lang="en-US" altLang="ko-KR" dirty="0"/>
              <a:t>. </a:t>
            </a:r>
            <a:r>
              <a:rPr lang="ko-KR" altLang="en-US" dirty="0"/>
              <a:t>개수 등 필요 시 다같이 </a:t>
            </a:r>
            <a:r>
              <a:rPr lang="ko-KR" altLang="en-US" dirty="0" err="1"/>
              <a:t>의논하는게</a:t>
            </a:r>
            <a:r>
              <a:rPr lang="ko-KR" altLang="en-US" dirty="0"/>
              <a:t> 좋을 것 같음</a:t>
            </a:r>
            <a:r>
              <a:rPr lang="en-US" altLang="ko-KR" dirty="0"/>
              <a:t>! , </a:t>
            </a:r>
            <a:r>
              <a:rPr lang="ko-KR" altLang="en-US" dirty="0"/>
              <a:t>총 맞고 쓰러진 남친 시점에서</a:t>
            </a:r>
            <a:r>
              <a:rPr lang="en-US" altLang="ko-KR" dirty="0"/>
              <a:t>(</a:t>
            </a:r>
            <a:r>
              <a:rPr lang="ko-KR" altLang="en-US" dirty="0"/>
              <a:t>구덩이 시점</a:t>
            </a:r>
            <a:r>
              <a:rPr lang="en-US" altLang="ko-KR" dirty="0"/>
              <a:t>) </a:t>
            </a:r>
            <a:r>
              <a:rPr lang="ko-KR" altLang="en-US" dirty="0"/>
              <a:t>주인공과 검은 망토를 뒤집어쓴 의문의 사람들이 다같이 꽃을 던지는 장면을 추가해도 좋을 것 같음 </a:t>
            </a:r>
            <a:r>
              <a:rPr lang="en-US" altLang="ko-KR" dirty="0"/>
              <a:t>(</a:t>
            </a:r>
            <a:r>
              <a:rPr lang="ko-KR" altLang="en-US" dirty="0"/>
              <a:t>멘토님 피드백 반영</a:t>
            </a:r>
            <a:r>
              <a:rPr lang="en-US" altLang="ko-KR" dirty="0"/>
              <a:t>, </a:t>
            </a:r>
            <a:r>
              <a:rPr lang="ko-KR" altLang="en-US" dirty="0"/>
              <a:t>이후 필요시 스토리보드에 추가할 수 </a:t>
            </a:r>
            <a:r>
              <a:rPr lang="en-US" altLang="ko-KR" dirty="0"/>
              <a:t>O</a:t>
            </a:r>
          </a:p>
          <a:p>
            <a:r>
              <a:rPr lang="ko-KR" altLang="en-US" dirty="0"/>
              <a:t>마지막 몽환적인 배경은 그래픽한 느낌이 나는 배경이니 굳이 현실감을 주려고 소품 준비를 하지 않아도 되지 않나 라는 생각이 듭니다</a:t>
            </a:r>
            <a:r>
              <a:rPr lang="en-US" altLang="ko-KR" dirty="0"/>
              <a:t>..!</a:t>
            </a:r>
          </a:p>
          <a:p>
            <a:r>
              <a:rPr lang="ko-KR" altLang="en-US" dirty="0"/>
              <a:t>동굴에서 현실감을 확 주고 몽환적인 </a:t>
            </a:r>
            <a:r>
              <a:rPr lang="ko-KR" altLang="en-US" dirty="0" err="1"/>
              <a:t>언리얼</a:t>
            </a:r>
            <a:r>
              <a:rPr lang="ko-KR" altLang="en-US" dirty="0"/>
              <a:t> 배경으로 전환되면서 약간의 비현실감에서 나오는 영상미</a:t>
            </a:r>
            <a:r>
              <a:rPr lang="en-US" altLang="ko-KR" dirty="0"/>
              <a:t>(?)</a:t>
            </a:r>
            <a:r>
              <a:rPr lang="ko-KR" altLang="en-US" dirty="0"/>
              <a:t>와 이를 통한 해방감</a:t>
            </a:r>
            <a:r>
              <a:rPr lang="en-US" altLang="ko-KR" dirty="0"/>
              <a:t> </a:t>
            </a:r>
            <a:r>
              <a:rPr lang="ko-KR" altLang="en-US" dirty="0"/>
              <a:t>극대화하여 표현</a:t>
            </a:r>
            <a:r>
              <a:rPr lang="en-US" altLang="ko-KR" dirty="0"/>
              <a:t>…)</a:t>
            </a:r>
          </a:p>
          <a:p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고래는 식상하다</a:t>
            </a:r>
            <a:r>
              <a:rPr lang="en-US" altLang="ko-KR" dirty="0"/>
              <a:t>. </a:t>
            </a:r>
            <a:r>
              <a:rPr lang="ko-KR" altLang="en-US" dirty="0"/>
              <a:t>다른 아이디어 </a:t>
            </a:r>
            <a:r>
              <a:rPr lang="en-US" altLang="ko-KR" dirty="0"/>
              <a:t>-&gt; </a:t>
            </a:r>
            <a:r>
              <a:rPr lang="ko-KR" altLang="en-US" dirty="0"/>
              <a:t>고래의 텍스처를 유리처럼 반들반들하게 만든 고래는 안되나요</a:t>
            </a:r>
            <a:r>
              <a:rPr lang="en-US" altLang="ko-KR" dirty="0"/>
              <a:t>?? </a:t>
            </a:r>
            <a:r>
              <a:rPr lang="ko-KR" altLang="en-US" dirty="0"/>
              <a:t>예쁘게</a:t>
            </a:r>
            <a:r>
              <a:rPr lang="en-US" altLang="ko-KR" dirty="0"/>
              <a:t>…. </a:t>
            </a:r>
            <a:r>
              <a:rPr lang="ko-KR" altLang="en-US" dirty="0"/>
              <a:t>그럼 식상하지 않진 않나</a:t>
            </a:r>
            <a:r>
              <a:rPr lang="en-US" altLang="ko-KR" dirty="0"/>
              <a:t>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921655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7686764-0F09-CDA9-122B-7390D5918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622300"/>
            <a:ext cx="4762500" cy="45357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A1013E-6C53-5722-CE85-9D6E62EC3239}"/>
              </a:ext>
            </a:extLst>
          </p:cNvPr>
          <p:cNvSpPr txBox="1"/>
          <p:nvPr/>
        </p:nvSpPr>
        <p:spPr>
          <a:xfrm>
            <a:off x="844550" y="5410200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인조바위 아트</a:t>
            </a:r>
            <a:r>
              <a:rPr lang="en-US" altLang="ko-KR" dirty="0"/>
              <a:t>/</a:t>
            </a:r>
            <a:r>
              <a:rPr lang="ko-KR" altLang="en-US" dirty="0"/>
              <a:t>소품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EB9F976-0954-5DC4-2B18-A23CD7BB9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182" y="584200"/>
            <a:ext cx="4602804" cy="4483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F88F19-DCB0-D4EA-3A44-961AD1E11504}"/>
              </a:ext>
            </a:extLst>
          </p:cNvPr>
          <p:cNvSpPr txBox="1"/>
          <p:nvPr/>
        </p:nvSpPr>
        <p:spPr>
          <a:xfrm>
            <a:off x="5892800" y="5365750"/>
            <a:ext cx="54922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강풍기</a:t>
            </a:r>
            <a:r>
              <a:rPr lang="en-US" altLang="ko-KR" dirty="0"/>
              <a:t>. </a:t>
            </a:r>
            <a:r>
              <a:rPr lang="ko-KR" altLang="en-US" dirty="0"/>
              <a:t>마지막 </a:t>
            </a:r>
            <a:r>
              <a:rPr lang="ko-KR" altLang="en-US" dirty="0" err="1"/>
              <a:t>언리얼</a:t>
            </a:r>
            <a:r>
              <a:rPr lang="ko-KR" altLang="en-US" dirty="0"/>
              <a:t> 배경에서 하늘하늘 흩날리는</a:t>
            </a:r>
            <a:endParaRPr lang="en-US" altLang="ko-KR" dirty="0"/>
          </a:p>
          <a:p>
            <a:r>
              <a:rPr lang="ko-KR" altLang="en-US" dirty="0"/>
              <a:t>연출하면 좋을 것 같다는 의견이 있어서</a:t>
            </a:r>
          </a:p>
        </p:txBody>
      </p:sp>
    </p:spTree>
    <p:extLst>
      <p:ext uri="{BB962C8B-B14F-4D97-AF65-F5344CB8AC3E}">
        <p14:creationId xmlns:p14="http://schemas.microsoft.com/office/powerpoint/2010/main" val="699633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395</Words>
  <Application>Microsoft Office PowerPoint</Application>
  <PresentationFormat>와이드스크린</PresentationFormat>
  <Paragraphs>62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수현 연</dc:creator>
  <cp:lastModifiedBy>수현 연</cp:lastModifiedBy>
  <cp:revision>1</cp:revision>
  <dcterms:created xsi:type="dcterms:W3CDTF">2024-11-06T13:56:22Z</dcterms:created>
  <dcterms:modified xsi:type="dcterms:W3CDTF">2024-11-06T15:09:37Z</dcterms:modified>
</cp:coreProperties>
</file>